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5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33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280160"/>
            <a:ext cx="1097280" cy="82296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 flipV="1">
            <a:off x="10789920" y="1097280"/>
            <a:ext cx="731520" cy="100584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 flipH="1">
            <a:off x="9326880" y="1280160"/>
            <a:ext cx="365760" cy="146304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 flipH="1">
            <a:off x="10607040" y="2103120"/>
            <a:ext cx="182880" cy="118872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1521440" y="1097280"/>
            <a:ext cx="91440" cy="164592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9326880" y="2743200"/>
            <a:ext cx="1280160" cy="54864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 flipV="1">
            <a:off x="10607040" y="2743200"/>
            <a:ext cx="1005840" cy="54864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640080" cy="128016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10607040" y="3291840"/>
            <a:ext cx="548640" cy="91440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flipH="1">
            <a:off x="11155680" y="2743200"/>
            <a:ext cx="457200" cy="146304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9610344" y="119786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10707624" y="202082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11439144" y="101498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9244584" y="266090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10524744" y="320954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11530584" y="266090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9884664" y="394106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11073384" y="412394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ICI313 · ESTRUCTURAS DE DATOS · ENTREGAS II Y III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23317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Social con Grafo de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Contactos y Tabla Hash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de separación con BFS sobre un grafo no dirigido, y conteo de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términos con una tabla hash propia (djb2).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5029200"/>
            <a:ext cx="29260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731520" y="5166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Reddit / Pushshift  ·  Defensa en vivo: 3 usuarios + Top-N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modelar la red social como un grafo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sociales modernas representan a cada usuario como un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cada relación como una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Milgram (1967) y estudios de Facebook: la mayoría de usuarios está conectada en cadenas cortas — </a:t>
            </a: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1°, 2° y 3° grados de separación.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no entrega "amigos" directos. Adaptamos los contactos desde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a posts y co-participación</a:t>
            </a: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mismo subreddit.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EAF0FD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5486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únicos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indexados (N)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4754880"/>
            <a:ext cx="0" cy="11430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651760" y="4754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651760" y="5486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en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grafo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4754880"/>
            <a:ext cx="0" cy="11430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526280" y="4754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26280" y="5486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no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86600" y="1417320"/>
            <a:ext cx="4389120" cy="4389120"/>
          </a:xfrm>
          <a:prstGeom prst="ellipse">
            <a:avLst/>
          </a:prstGeom>
          <a:solidFill>
            <a:srgbClr val="E650B0"/>
          </a:solidFill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772400" y="2103120"/>
            <a:ext cx="3017520" cy="3017520"/>
          </a:xfrm>
          <a:prstGeom prst="ellipse">
            <a:avLst/>
          </a:prstGeom>
          <a:solidFill>
            <a:srgbClr val="00B0F0"/>
          </a:solidFill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8458200" y="2788920"/>
            <a:ext cx="1645920" cy="16459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9043416" y="3374136"/>
            <a:ext cx="475488" cy="475488"/>
          </a:xfrm>
          <a:prstGeom prst="ellipse">
            <a:avLst/>
          </a:prstGeom>
          <a:solidFill>
            <a:srgbClr val="F2A93B"/>
          </a:solidFill>
          <a:ln w="1905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0" name="Text 18"/>
          <p:cNvSpPr/>
          <p:nvPr/>
        </p:nvSpPr>
        <p:spPr>
          <a:xfrm>
            <a:off x="9043416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43416" y="2962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grado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43416" y="2318657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 grado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43416" y="1630151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 grado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integra todo con la Entrega 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F2F3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1856232"/>
            <a:ext cx="594360" cy="594360"/>
          </a:xfrm>
          <a:prstGeom prst="ellipse">
            <a:avLst/>
          </a:prstGeom>
          <a:solidFill>
            <a:srgbClr val="5B6584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_png/FaListU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1989963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0876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Índices invertidos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→ posts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→ contactos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60020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EAF0FD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4572000" y="18562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4" name="Image 1" descr="icons_png/FaProjectDiagra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731" y="1989963"/>
            <a:ext cx="326898" cy="3268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856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30352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no dirigido + BFS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57200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adyacencia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listas propias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38160" y="160020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FEF3E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7"/>
          <p:cNvSpPr/>
          <p:nvPr/>
        </p:nvSpPr>
        <p:spPr>
          <a:xfrm>
            <a:off x="8366760" y="1856232"/>
            <a:ext cx="594360" cy="594360"/>
          </a:xfrm>
          <a:prstGeom prst="ellipse">
            <a:avLst/>
          </a:prstGeom>
          <a:solidFill>
            <a:srgbClr val="B979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2" descr="icons_png/FaHashta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491" y="1989963"/>
            <a:ext cx="326898" cy="32689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98280" y="1856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III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09828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hash djb2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836676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encadenamiento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48640" y="438912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151B4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3"/>
          <p:cNvSpPr/>
          <p:nvPr/>
        </p:nvSpPr>
        <p:spPr>
          <a:xfrm>
            <a:off x="822960" y="4389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listas.py  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ListaUsuarios · ListaPosts · ListaTerminos · ListaLikes  —  nodos </a:t>
            </a:r>
            <a:r>
              <a:rPr lang="en-US" sz="12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enlazados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manuales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cargar CSV  →  construir índices  →  construir grafo  →  construir tabla hash  →  menú interactivo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 · MODELO DE DATOS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no dirigido sobre listas de adyacencia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1631290"/>
            <a:ext cx="230429" cy="2304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179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dirigido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847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 es contacto de B, entonces B también es contacto de A. Cada arista se guarda dos veces.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2591410"/>
            <a:ext cx="230429" cy="230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4780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bucles ni duplicados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97280" y="280720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agregar_contacto() descarta usuario == contacto; ListaUsuarios.insertar() ignora repetidos.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3551530"/>
            <a:ext cx="230429" cy="230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4381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Construido desde la Entrega I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97280" y="376732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construir_desde_indice() reutiliza el índice invertido de usuarios — no relee el CSV.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interna: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8006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151B4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3"/>
          <p:cNvSpPr/>
          <p:nvPr/>
        </p:nvSpPr>
        <p:spPr>
          <a:xfrm>
            <a:off x="777240" y="4937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self.adyacencia = {}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username -&gt; ListaUsuarios (vecinos)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1554480"/>
            <a:ext cx="5212080" cy="4617720"/>
          </a:xfrm>
          <a:prstGeom prst="roundRect">
            <a:avLst>
              <a:gd name="adj" fmla="val 1584"/>
            </a:avLst>
          </a:prstGeom>
          <a:solidFill>
            <a:srgbClr val="EAF0FD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5"/>
          <p:cNvSpPr/>
          <p:nvPr/>
        </p:nvSpPr>
        <p:spPr>
          <a:xfrm>
            <a:off x="667512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vive una arista en memoria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94944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7"/>
          <p:cNvSpPr/>
          <p:nvPr/>
        </p:nvSpPr>
        <p:spPr>
          <a:xfrm>
            <a:off x="69494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589520" y="2651760"/>
            <a:ext cx="15544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19"/>
          <p:cNvSpPr/>
          <p:nvPr/>
        </p:nvSpPr>
        <p:spPr>
          <a:xfrm>
            <a:off x="9144000" y="233172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0"/>
          <p:cNvSpPr/>
          <p:nvPr/>
        </p:nvSpPr>
        <p:spPr>
          <a:xfrm>
            <a:off x="91440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675120" y="3063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adyacencia["ana"] -&gt; [beto]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949440" y="370332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3"/>
          <p:cNvSpPr/>
          <p:nvPr/>
        </p:nvSpPr>
        <p:spPr>
          <a:xfrm>
            <a:off x="694944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589520" y="4023360"/>
            <a:ext cx="15544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5"/>
          <p:cNvSpPr/>
          <p:nvPr/>
        </p:nvSpPr>
        <p:spPr>
          <a:xfrm>
            <a:off x="9144000" y="3703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6"/>
          <p:cNvSpPr/>
          <p:nvPr/>
        </p:nvSpPr>
        <p:spPr>
          <a:xfrm>
            <a:off x="914400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675120" y="4434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adyacencia["beto"] -&gt; [ana]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675120" y="4892040"/>
            <a:ext cx="46634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29"/>
          <p:cNvSpPr/>
          <p:nvPr/>
        </p:nvSpPr>
        <p:spPr>
          <a:xfrm>
            <a:off x="667512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llamada a agregar_contacto("ana","beto") crea estas DOS entradas — por eso el grafo es no dirigido.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 · ALGORITMO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por niveles: obtener_contactos_grado()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anchura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control explícito de niveles — no es fuerza bruta sobre todo el grafo.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219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arranca con [raíz]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532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visitados = {raíz}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54864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9809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nivel, se procesa TODA la cola actual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vecinos nuevos van a siguiente_cola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4864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7398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= siguiente_cola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0507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avanza una capa completa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1713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48640" y="4517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498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hasta el grado 3 o hasta vaciar la cola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8097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retorna 3 sublistas (rellena con [] si falta)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1508760"/>
            <a:ext cx="5212080" cy="5166360"/>
          </a:xfrm>
          <a:prstGeom prst="roundRect">
            <a:avLst>
              <a:gd name="adj" fmla="val 1062"/>
            </a:avLst>
          </a:prstGeom>
          <a:solidFill>
            <a:srgbClr val="151B4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629400" y="1645920"/>
            <a:ext cx="47548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obtener_contactos_grado(self, raiz, grados):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visitados = {raiz: True}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cola = [raiz]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[]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nivel = 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nivel &lt; grados and len(cola) &gt; 0: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siguiente_cola = []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nivel_contactos = []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actual in cola: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adyac = self.adyacencia[actual]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vecino in adyac.recorrer():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vecino not in visitados: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visitados[vecino] = True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nivel_contactos.append(vecino)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siguiente_cola.append(vecino)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resultado.append(nivel_contactos)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cola = siguiente_cola   # avanza una capa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nivel += 1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len(resultado) &lt; grados: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resultado.append([])    # siempre N sublistas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 · EJEMPLO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paso a paso, raíz = spez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 flipH="1">
            <a:off x="1463040" y="1874520"/>
            <a:ext cx="1783080" cy="1005840"/>
          </a:xfrm>
          <a:prstGeom prst="line">
            <a:avLst/>
          </a:prstGeom>
          <a:noFill/>
          <a:ln w="22225">
            <a:solidFill>
              <a:srgbClr val="C9CF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246120" y="1874520"/>
            <a:ext cx="1783080" cy="1005840"/>
          </a:xfrm>
          <a:prstGeom prst="line">
            <a:avLst/>
          </a:prstGeom>
          <a:noFill/>
          <a:ln w="22225">
            <a:solidFill>
              <a:srgbClr val="C9CF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 flipH="1">
            <a:off x="502920" y="2880360"/>
            <a:ext cx="960120" cy="1097280"/>
          </a:xfrm>
          <a:prstGeom prst="line">
            <a:avLst/>
          </a:prstGeom>
          <a:noFill/>
          <a:ln w="22225">
            <a:solidFill>
              <a:srgbClr val="C9CF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463040" y="2880360"/>
            <a:ext cx="1783080" cy="1097280"/>
          </a:xfrm>
          <a:prstGeom prst="line">
            <a:avLst/>
          </a:prstGeom>
          <a:noFill/>
          <a:ln w="22225">
            <a:solidFill>
              <a:srgbClr val="C9CF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 flipH="1">
            <a:off x="3246120" y="2880360"/>
            <a:ext cx="1783080" cy="1097280"/>
          </a:xfrm>
          <a:prstGeom prst="line">
            <a:avLst/>
          </a:prstGeom>
          <a:noFill/>
          <a:ln w="22225">
            <a:solidFill>
              <a:srgbClr val="C9CF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029200" y="2880360"/>
            <a:ext cx="960120" cy="1097280"/>
          </a:xfrm>
          <a:prstGeom prst="line">
            <a:avLst/>
          </a:prstGeom>
          <a:noFill/>
          <a:ln w="22225">
            <a:solidFill>
              <a:srgbClr val="C9CF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9144" cy="1097280"/>
          </a:xfrm>
          <a:prstGeom prst="line">
            <a:avLst/>
          </a:prstGeom>
          <a:noFill/>
          <a:ln w="22225">
            <a:solidFill>
              <a:srgbClr val="C9CF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246120" y="3977640"/>
            <a:ext cx="9144" cy="1097280"/>
          </a:xfrm>
          <a:prstGeom prst="line">
            <a:avLst/>
          </a:prstGeom>
          <a:noFill/>
          <a:ln w="22225">
            <a:solidFill>
              <a:srgbClr val="C9CF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989320" y="3977640"/>
            <a:ext cx="9144" cy="1097280"/>
          </a:xfrm>
          <a:prstGeom prst="line">
            <a:avLst/>
          </a:prstGeom>
          <a:noFill/>
          <a:ln w="22225">
            <a:solidFill>
              <a:srgbClr val="C9CF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980944" y="160934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788920" y="160934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25296" y="2642616"/>
            <a:ext cx="475488" cy="47548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005840" y="2642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karmanaut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91456" y="2642616"/>
            <a:ext cx="475488" cy="47548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572000" y="2642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gallowboob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65176" y="3739896"/>
            <a:ext cx="475488" cy="47548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5720" y="3739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08376" y="3739896"/>
            <a:ext cx="475488" cy="47548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788920" y="3739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shittymorph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5751576" y="3739896"/>
            <a:ext cx="475488" cy="47548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532120" y="3739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iamthatis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5176" y="4837176"/>
            <a:ext cx="475488" cy="475488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5720" y="48371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davepoobond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3008376" y="4837176"/>
            <a:ext cx="475488" cy="475488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2788920" y="48371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rasta_bumba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751576" y="4837176"/>
            <a:ext cx="475488" cy="475488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5532120" y="48371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igottafindthebeat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57200" y="571500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76656" y="56875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920240" y="571500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2139696" y="56875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0" y="5715000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3602736" y="56875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5715000"/>
            <a:ext cx="164592" cy="164592"/>
          </a:xfrm>
          <a:prstGeom prst="ellipse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5065776" y="56875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78040" y="685800"/>
            <a:ext cx="4434840" cy="960120"/>
          </a:xfrm>
          <a:prstGeom prst="roundRect">
            <a:avLst>
              <a:gd name="adj" fmla="val 6667"/>
            </a:avLst>
          </a:prstGeom>
          <a:solidFill>
            <a:srgbClr val="151B4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7406640" y="7040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 inicial = [spez]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visitados = {spez}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17795" y="17190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final del BFS</a:t>
            </a:r>
            <a:endParaRPr lang="en-US" sz="14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161969"/>
              </p:ext>
            </p:extLst>
          </p:nvPr>
        </p:nvGraphicFramePr>
        <p:xfrm>
          <a:off x="9183624" y="2447480"/>
          <a:ext cx="2511552" cy="3404680"/>
        </p:xfrm>
        <a:graphic>
          <a:graphicData uri="http://schemas.openxmlformats.org/drawingml/2006/table">
            <a:tbl>
              <a:tblPr/>
              <a:tblGrid>
                <a:gridCol w="704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1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gallowboob, karmanaut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iamthatis, shittymorph,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davepoobond,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igottafindthebeat,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rasta_bumba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Text 40"/>
          <p:cNvSpPr/>
          <p:nvPr/>
        </p:nvSpPr>
        <p:spPr>
          <a:xfrm>
            <a:off x="7178040" y="58521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usuario se repite entre niveles — visitados evita duplicados.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C50F0037-0B58-3041-46E6-E5170A35E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447480"/>
            <a:ext cx="2499360" cy="34321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 · VALIDACIÓN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94035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Simetría, conteo de aristas y resultados reales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5F2E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validar_simetria()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A→B comprueba que exista B→A. Si falla en cualquier par, corta de inmediato con return False.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971800"/>
            <a:ext cx="4846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91440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Reportado en el resumen: "Grafo no dirigido: OK, relaciones simétricas"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AF0FD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77724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64 relaciones → 32 aristas?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relaciones.csv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 cada contacto en ambos sentidos (simetría). El grafo cuenta cada amistad </a:t>
            </a:r>
            <a:r>
              <a:rPr lang="en-US" sz="12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vez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arista no dirigida: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5074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total_aristas() = total // 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relaciones dirigidas  /  2  =  32 aristas reales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119FC069-3F08-7D9D-1072-0ECC3BDBC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122" y="1745178"/>
            <a:ext cx="2740881" cy="332974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58C785D8-BFC4-2D9B-1180-FF94805D77D1}"/>
              </a:ext>
            </a:extLst>
          </p:cNvPr>
          <p:cNvSpPr txBox="1"/>
          <p:nvPr/>
        </p:nvSpPr>
        <p:spPr>
          <a:xfrm>
            <a:off x="6294122" y="5074920"/>
            <a:ext cx="2484118" cy="5232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400" dirty="0"/>
              <a:t>Contacto “</a:t>
            </a:r>
            <a:r>
              <a:rPr lang="es-CL" sz="1400" dirty="0" err="1"/>
              <a:t>gallowboob</a:t>
            </a:r>
            <a:r>
              <a:rPr lang="es-CL" sz="1400" dirty="0"/>
              <a:t>”</a:t>
            </a:r>
            <a:br>
              <a:rPr lang="es-CL" sz="1400" dirty="0"/>
            </a:br>
            <a:r>
              <a:rPr lang="es-CL" sz="1400" dirty="0"/>
              <a:t>Grado 1 de “</a:t>
            </a:r>
            <a:r>
              <a:rPr lang="es-CL" sz="1400" dirty="0" err="1"/>
              <a:t>spez</a:t>
            </a:r>
            <a:r>
              <a:rPr lang="es-CL" sz="1400" dirty="0"/>
              <a:t>” 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7A709603-103A-780C-0BEB-31D615401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559" y="3166093"/>
            <a:ext cx="2740881" cy="324718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731BBCA6-FA5C-8ACC-6D3D-5DB344F5AEF4}"/>
              </a:ext>
            </a:extLst>
          </p:cNvPr>
          <p:cNvSpPr txBox="1"/>
          <p:nvPr/>
        </p:nvSpPr>
        <p:spPr>
          <a:xfrm>
            <a:off x="9035004" y="2642873"/>
            <a:ext cx="2484118" cy="5232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400" dirty="0"/>
              <a:t>Contacto “</a:t>
            </a:r>
            <a:r>
              <a:rPr lang="es-CL" sz="1400" dirty="0" err="1"/>
              <a:t>hahainternet</a:t>
            </a:r>
            <a:r>
              <a:rPr lang="es-CL" sz="1400" dirty="0"/>
              <a:t>”</a:t>
            </a:r>
            <a:br>
              <a:rPr lang="es-CL" sz="1400" dirty="0"/>
            </a:br>
            <a:r>
              <a:rPr lang="es-CL" sz="1400" dirty="0"/>
              <a:t>Grado 3 de “</a:t>
            </a:r>
            <a:r>
              <a:rPr lang="es-CL" sz="1400" dirty="0" err="1"/>
              <a:t>spez</a:t>
            </a:r>
            <a:r>
              <a:rPr lang="es-CL" sz="1400" dirty="0"/>
              <a:t>” 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C268FA2D-EEA3-8C1E-1A60-FDA334FB51E9}"/>
              </a:ext>
            </a:extLst>
          </p:cNvPr>
          <p:cNvCxnSpPr>
            <a:cxnSpLocks/>
          </p:cNvCxnSpPr>
          <p:nvPr/>
        </p:nvCxnSpPr>
        <p:spPr>
          <a:xfrm flipH="1">
            <a:off x="6812280" y="3566160"/>
            <a:ext cx="4673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3F5FABF7-9E34-0735-2F6A-D73772F13AC2}"/>
              </a:ext>
            </a:extLst>
          </p:cNvPr>
          <p:cNvCxnSpPr>
            <a:cxnSpLocks/>
          </p:cNvCxnSpPr>
          <p:nvPr/>
        </p:nvCxnSpPr>
        <p:spPr>
          <a:xfrm flipH="1">
            <a:off x="9276080" y="6304260"/>
            <a:ext cx="4673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III · FUNCIÓN HASH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djb2: simple, rápida y bien distribuida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4249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hash(0) = 5381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hash(i) = hash(i-1) · 33 + c[i]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final se obtiene como hash(término) mod 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1500" y="3419856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icons_png/FaCalcula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350215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2990" y="3461315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≈ potencia de 2 impar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36499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esparce bits y reduce colisiones sistemáticas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650377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icons_png/FaCalcula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732673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92124" y="4657655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Truncado obligatorio a 32 bits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28700" y="4983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hash_val &amp;= 0xFFFFFFFF en </a:t>
            </a:r>
            <a:r>
              <a:rPr lang="en-US" sz="11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s-CL" sz="1100" noProof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disminuir</a:t>
            </a: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1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</a:t>
            </a: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vuelva</a:t>
            </a: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 lento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0" y="155448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151B4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4"/>
          <p:cNvSpPr/>
          <p:nvPr/>
        </p:nvSpPr>
        <p:spPr>
          <a:xfrm>
            <a:off x="6629400" y="169164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calcular_hash(self, </a:t>
            </a:r>
            <a:r>
              <a:rPr lang="en-US" sz="1250" dirty="0" err="1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termino</a:t>
            </a:r>
            <a:r>
              <a:rPr lang="en-US" sz="12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  #termino “P”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valor_hash = 5381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 in termino: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valor_hash = ((valor_hash &lt;&lt; 5)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+ valor_hash) + ord(c)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valor_hash &amp;= 0xFFFFFFFF  # 32 bits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valor_hash % self.tamano_tabla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0" y="352044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EAF0FD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6"/>
          <p:cNvSpPr/>
          <p:nvPr/>
        </p:nvSpPr>
        <p:spPr>
          <a:xfrm>
            <a:off x="662940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hash("python")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629400" y="4069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5381·33 + 112 = 177685
</a:t>
            </a:r>
            <a:r>
              <a:rPr lang="en-US" sz="11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177685·33+121 → ...truncado...
</a:t>
            </a:r>
            <a:r>
              <a:rPr lang="en-US" sz="11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...  </a:t>
            </a:r>
            <a:r>
              <a:rPr lang="en-US" sz="11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...  </a:t>
            </a:r>
            <a:r>
              <a:rPr lang="en-US" sz="11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...  </a:t>
            </a:r>
            <a:r>
              <a:rPr lang="en-US" sz="11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valor final
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629400" y="5577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valor_final % M  →  posición en la tabla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EE51A09-6980-92D4-B39E-7A82B7454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939176"/>
              </p:ext>
            </p:extLst>
          </p:nvPr>
        </p:nvGraphicFramePr>
        <p:xfrm>
          <a:off x="5049365" y="1813560"/>
          <a:ext cx="5743024" cy="3901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6498">
                  <a:extLst>
                    <a:ext uri="{9D8B030D-6E8A-4147-A177-3AD203B41FA5}">
                      <a16:colId xmlns:a16="http://schemas.microsoft.com/office/drawing/2014/main" val="3262693173"/>
                    </a:ext>
                  </a:extLst>
                </a:gridCol>
                <a:gridCol w="1286085">
                  <a:extLst>
                    <a:ext uri="{9D8B030D-6E8A-4147-A177-3AD203B41FA5}">
                      <a16:colId xmlns:a16="http://schemas.microsoft.com/office/drawing/2014/main" val="2615443496"/>
                    </a:ext>
                  </a:extLst>
                </a:gridCol>
                <a:gridCol w="2025016">
                  <a:extLst>
                    <a:ext uri="{9D8B030D-6E8A-4147-A177-3AD203B41FA5}">
                      <a16:colId xmlns:a16="http://schemas.microsoft.com/office/drawing/2014/main" val="3745631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3708946037"/>
                    </a:ext>
                  </a:extLst>
                </a:gridCol>
              </a:tblGrid>
              <a:tr h="322079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Carácter (c)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Valor ASCII (</a:t>
                      </a:r>
                      <a:r>
                        <a:rPr lang="es-CL" sz="1200" b="1" dirty="0" err="1">
                          <a:solidFill>
                            <a:srgbClr val="1F1F1F"/>
                          </a:solidFill>
                          <a:effectLst/>
                        </a:rPr>
                        <a:t>ord</a:t>
                      </a: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(c))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Calculo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 err="1">
                          <a:solidFill>
                            <a:srgbClr val="1F1F1F"/>
                          </a:solidFill>
                          <a:effectLst/>
                        </a:rPr>
                        <a:t>valor_hash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574730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Inicio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—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(Valor inicial predeterminado </a:t>
                      </a: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“</a:t>
                      </a:r>
                      <a:r>
                        <a:rPr lang="es-CL" sz="1200" b="1" dirty="0"/>
                        <a:t>Daniel J. Bernstein”</a:t>
                      </a: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1F1F1F"/>
                          </a:solidFill>
                          <a:effectLst/>
                        </a:rPr>
                        <a:t>5,381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60983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1F1F1F"/>
                          </a:solidFill>
                          <a:effectLst/>
                        </a:rPr>
                        <a:t>p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112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(5381 X 33) + 112 = 177,573 + 112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177,685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752603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1F1F1F"/>
                          </a:solidFill>
                          <a:effectLst/>
                        </a:rPr>
                        <a:t>y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121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(177685  X  33) + 121 = 5,863,605 + 121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5,863,726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926821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1F1F1F"/>
                          </a:solidFill>
                          <a:effectLst/>
                        </a:rPr>
                        <a:t>t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solidFill>
                            <a:srgbClr val="1F1F1F"/>
                          </a:solidFill>
                          <a:effectLst/>
                        </a:rPr>
                        <a:t>116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 (5863726  X  33) + 116 = 193,502,958 + 116 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1F1F1F"/>
                          </a:solidFill>
                          <a:effectLst/>
                        </a:rPr>
                        <a:t>193,503,074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7555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h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solidFill>
                            <a:srgbClr val="1F1F1F"/>
                          </a:solidFill>
                          <a:effectLst/>
                        </a:rPr>
                        <a:t>104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 (193503074  X  33) + 104 = 6,385,601,442 + 104 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2,090,634,250</a:t>
                      </a: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 (Truncado)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4013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1F1F1F"/>
                          </a:solidFill>
                          <a:effectLst/>
                        </a:rPr>
                        <a:t>o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solidFill>
                            <a:srgbClr val="1F1F1F"/>
                          </a:solidFill>
                          <a:effectLst/>
                        </a:rPr>
                        <a:t>111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 (2090634250  X  33) + 111 = 68,990,930,250 + 111 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271,453,625</a:t>
                      </a: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 (Truncado)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73172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1F1F1F"/>
                          </a:solidFill>
                          <a:effectLst/>
                        </a:rPr>
                        <a:t>n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solidFill>
                            <a:srgbClr val="1F1F1F"/>
                          </a:solidFill>
                          <a:effectLst/>
                        </a:rPr>
                        <a:t>110</a:t>
                      </a:r>
                      <a:endParaRPr lang="es-CL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 (271453625  X  33) + 110 = 8,957,969,625 + 110 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1F1F1F"/>
                          </a:solidFill>
                          <a:effectLst/>
                        </a:rPr>
                        <a:t>368,035,143</a:t>
                      </a:r>
                      <a:r>
                        <a:rPr lang="es-CL" sz="1200" dirty="0">
                          <a:solidFill>
                            <a:srgbClr val="1F1F1F"/>
                          </a:solidFill>
                          <a:effectLst/>
                        </a:rPr>
                        <a:t> (Truncado)</a:t>
                      </a:r>
                      <a:endParaRPr lang="es-CL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08951994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31859858-DA2E-9EB0-F0B0-09D3C730D199}"/>
              </a:ext>
            </a:extLst>
          </p:cNvPr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III · FUNCIÓN HASH</a:t>
            </a:r>
            <a:endParaRPr lang="en-US" sz="12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FFFDD2E-24C9-E717-51DD-7A38B3B4C073}"/>
              </a:ext>
            </a:extLst>
          </p:cNvPr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djb2:Ejemplo “python”</a:t>
            </a:r>
            <a:endParaRPr lang="en-US" sz="27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946E5FD-EF3D-6FFB-F173-4C602247E7D7}"/>
              </a:ext>
            </a:extLst>
          </p:cNvPr>
          <p:cNvSpPr/>
          <p:nvPr/>
        </p:nvSpPr>
        <p:spPr>
          <a:xfrm>
            <a:off x="309880" y="20243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hash(0) = 5381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hash(i) = hash(i-1) x 33 + c[i]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180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III · DIMENSIONAMIENTO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N, M y factor de carga de nuestra ejecución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51B4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menor primo tal que  M ≥ 1.5 × 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calcular_tamano(): redondeo entero de 1.5·N, luego busca el siguiente primo con es_primo()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ejecución real: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534924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términos únicos (vocabulario)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primo ≥ 1.5 × 304 = 456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N /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de carga obtenido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166360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E5F2E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7"/>
          <p:cNvSpPr/>
          <p:nvPr/>
        </p:nvSpPr>
        <p:spPr>
          <a:xfrm>
            <a:off x="777240" y="51663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Cumple la restricción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primo y M ≥ 1.5·N, calculado dinámicamente (no se usó la tabla de referencia fija de la pauta, que es solo sugerida).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de la tabla: M casillas, cada una con su cadena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0" y="2011680"/>
            <a:ext cx="502920" cy="457200"/>
          </a:xfrm>
          <a:prstGeom prst="rect">
            <a:avLst/>
          </a:prstGeom>
          <a:solidFill>
            <a:srgbClr val="F2F3F8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40080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903720" y="2011680"/>
            <a:ext cx="50292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690372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072884" y="251460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7406640" y="2011680"/>
            <a:ext cx="50292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740664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575804" y="251460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7575804" y="2807208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7909560" y="2011680"/>
            <a:ext cx="50292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790956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078724" y="251460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8412480" y="2011680"/>
            <a:ext cx="502920" cy="457200"/>
          </a:xfrm>
          <a:prstGeom prst="rect">
            <a:avLst/>
          </a:prstGeom>
          <a:solidFill>
            <a:srgbClr val="F2F3F8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841248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915400" y="2011680"/>
            <a:ext cx="50292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891540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9084564" y="251460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9084564" y="2807208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Shape 27"/>
          <p:cNvSpPr/>
          <p:nvPr/>
        </p:nvSpPr>
        <p:spPr>
          <a:xfrm>
            <a:off x="9418320" y="2011680"/>
            <a:ext cx="50292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941832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9587484" y="2514600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Shape 30"/>
          <p:cNvSpPr/>
          <p:nvPr/>
        </p:nvSpPr>
        <p:spPr>
          <a:xfrm>
            <a:off x="9587484" y="2807208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Shape 31"/>
          <p:cNvSpPr/>
          <p:nvPr/>
        </p:nvSpPr>
        <p:spPr>
          <a:xfrm>
            <a:off x="9587484" y="3099816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Shape 32"/>
          <p:cNvSpPr/>
          <p:nvPr/>
        </p:nvSpPr>
        <p:spPr>
          <a:xfrm>
            <a:off x="9921240" y="2011680"/>
            <a:ext cx="502920" cy="457200"/>
          </a:xfrm>
          <a:prstGeom prst="rect">
            <a:avLst/>
          </a:prstGeom>
          <a:solidFill>
            <a:srgbClr val="F2F3F8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992124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10424160" y="2011680"/>
            <a:ext cx="50292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/>
          <p:nvPr/>
        </p:nvSpPr>
        <p:spPr>
          <a:xfrm>
            <a:off x="1042416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10593324" y="251460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Shape 37"/>
          <p:cNvSpPr/>
          <p:nvPr/>
        </p:nvSpPr>
        <p:spPr>
          <a:xfrm>
            <a:off x="10927080" y="2011680"/>
            <a:ext cx="502920" cy="457200"/>
          </a:xfrm>
          <a:prstGeom prst="rect">
            <a:avLst/>
          </a:prstGeom>
          <a:solidFill>
            <a:srgbClr val="F2F3F8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/>
          <p:nvPr/>
        </p:nvSpPr>
        <p:spPr>
          <a:xfrm>
            <a:off x="10927080" y="2468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400800" y="3246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 = 457 casillas en total; se muestran solo las primeras 10 a modo ilustrativo)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400800" y="3749040"/>
            <a:ext cx="5212080" cy="2423160"/>
          </a:xfrm>
          <a:prstGeom prst="roundRect">
            <a:avLst>
              <a:gd name="adj" fmla="val 3019"/>
            </a:avLst>
          </a:prstGeom>
          <a:solidFill>
            <a:srgbClr val="EAF0FD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4" name="Text 41"/>
          <p:cNvSpPr/>
          <p:nvPr/>
        </p:nvSpPr>
        <p:spPr>
          <a:xfrm>
            <a:off x="6629400" y="3931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M debe ser primo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629400" y="4297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 comparte factores con patrones del hash (ej. múltiplos de 2, 4, 8...), ciertos términos caerían siempre en las mismas casillas, concentrando colisiones en vez de distribuirlas uniformemente. Un M primo minimiza ese riesgo.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III · COLISIONES Y CONSULTAS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Encadenamiento separado + Top-N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Resolución de colisiones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casilla apunta a una ListaTerminosHash propia. Si el término ya existe en la cadena, solo se incrementa frecuencia; si no, se crea un nodo nuevo.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53022" y="2738628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51B4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7" name="Text 5"/>
          <p:cNvSpPr/>
          <p:nvPr/>
        </p:nvSpPr>
        <p:spPr>
          <a:xfrm>
            <a:off x="45720" y="27386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[ 17 ]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985516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1325880" y="269290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EAF0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325880" y="27386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30129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freq: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0" y="2985516"/>
            <a:ext cx="32004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063240" y="269290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EAF0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063240" y="27386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63240" y="30129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freq: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985516"/>
            <a:ext cx="32004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800600" y="269290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EAF0FD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800600" y="27386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0129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freq: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términos colisionaron en la misma casilla (índice 17) — encadenamiento separado resuelve sin perder datos.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reales de esta ejecución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5349240" cy="13716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colisiones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Largo máximo de cadena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cadenas no vacías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Top-N (parametrizable)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00800" y="1920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obtener_top(n): selección manual del máximo repetida n veces sobre la lista de todos los nodos de la tabla.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0" y="256032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640080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183880" y="256032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EAF0F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818388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966960" y="256032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EAF0F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996696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0" y="3337560"/>
            <a:ext cx="5212080" cy="2697480"/>
          </a:xfrm>
          <a:prstGeom prst="roundRect">
            <a:avLst>
              <a:gd name="adj" fmla="val 2712"/>
            </a:avLst>
          </a:prstGeom>
          <a:solidFill>
            <a:srgbClr val="EAF0FD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6629400" y="3520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mostrar_metricas() reporta: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66560" y="3840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(términos únicos)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629400" y="393192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6766560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(tamaño de la tabla)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629400" y="42793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/>
          <p:nvPr/>
        </p:nvSpPr>
        <p:spPr>
          <a:xfrm>
            <a:off x="6766560" y="4535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 de carga (N/M)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629400" y="462686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6766560" y="48828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de colisiones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629400" y="497433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/>
          <p:nvPr/>
        </p:nvSpPr>
        <p:spPr>
          <a:xfrm>
            <a:off x="6766560" y="5230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Largo máximo de cadena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629400" y="532180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6766560" y="5577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cadenas no vacías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629400" y="566928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TÉCNICA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del BFS y cumplimiento de restricciones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151B4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del BFS por grados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 + 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usuarios del grafo, E = relaciones/aristas. El corte explícito en grado 3 acota aún más el recorrido real frente al peor caso teórico.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clave para la defensa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49808" y="4343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agregar_contacto()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443484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493008" y="4343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construir_desde_indice()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49808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obtener_contactos_grado()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484632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493008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validar_simetria()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49808" y="5166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calcular_hash()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525780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493008" y="5166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construir() / obtener_top()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restricciones</a:t>
            </a: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pauta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1965960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Image 0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37" y="2031797"/>
            <a:ext cx="197510" cy="19751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858000" y="19476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sobre listas enlazadas propias (no librerías de grafos)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0" y="2532888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9" name="Image 1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37" y="2598725"/>
            <a:ext cx="197510" cy="19751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858000" y="25146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con niveles explícitos, propio (no networkx ni similares)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400800" y="3099816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2" name="Image 2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37" y="3165653"/>
            <a:ext cx="197510" cy="19751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858000" y="30815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hash propia — sin dict/HashMap/unordered_map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400800" y="3666744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5" name="Image 3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37" y="3732581"/>
            <a:ext cx="197510" cy="19751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58000" y="36484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hash única: djb2 con truncado a 32 bits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6400800" y="4233672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8" name="Image 4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37" y="4299509"/>
            <a:ext cx="197510" cy="19751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858000" y="42153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Colisiones por encadenamiento separado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6400800" y="4800600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1" name="Image 5" descr="icons_png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37" y="4866437"/>
            <a:ext cx="197510" cy="19751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858000" y="47823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primo y M ≥ 1.5 × N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1748</Words>
  <Application>Microsoft Office PowerPoint</Application>
  <PresentationFormat>Panorámica</PresentationFormat>
  <Paragraphs>297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Google Sans Text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Social con Grafo de Contactos y Tabla Hash</dc:title>
  <dc:subject>PptxGenJS Presentation</dc:subject>
  <dc:creator>Equipo - ICI313 Estructuras de Datos</dc:creator>
  <cp:lastModifiedBy>Rodrigo Armijo Velasquez</cp:lastModifiedBy>
  <cp:revision>4</cp:revision>
  <dcterms:created xsi:type="dcterms:W3CDTF">2026-06-24T01:58:15Z</dcterms:created>
  <dcterms:modified xsi:type="dcterms:W3CDTF">2026-07-09T04:41:38Z</dcterms:modified>
</cp:coreProperties>
</file>